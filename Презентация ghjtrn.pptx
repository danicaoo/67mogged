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14"/>
    <p:restoredTop sz="96405"/>
  </p:normalViewPr>
  <p:slideViewPr>
    <p:cSldViewPr snapToGrid="0">
      <p:cViewPr varScale="1">
        <p:scale>
          <a:sx n="123" d="100"/>
          <a:sy n="123" d="100"/>
        </p:scale>
        <p:origin x="22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8170F-0370-4A38-8BF3-83D69476AE62}" type="datetime1">
              <a:rPr lang="en-US" smtClean="0"/>
              <a:t>10/27/26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183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15516-589F-487D-BF51-9635DCEA90D5}" type="datetime1">
              <a:rPr lang="en-US" smtClean="0"/>
              <a:t>10/27/26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336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D5D1244-0536-4076-95F8-65E3144966FF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762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F94E15-B448-489B-871D-A40527BFA7B7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478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раздела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994A23-0EFF-404D-A2C5-6B54939039AD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058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11C3-93DB-42DC-917F-4386F19A1E3B}" type="datetime1">
              <a:rPr lang="en-US" smtClean="0"/>
              <a:t>10/27/26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211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948C47DC-C479-4517-B1B0-94DB01BA76E7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012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F92C9D0B-C1A3-434D-9CF9-A666A14DD8A1}" type="datetime1">
              <a:rPr lang="en-US" smtClean="0"/>
              <a:t>10/27/26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998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742A22FE-7CAA-4561-B3B2-F8D8C37BE3D2}" type="datetime1">
              <a:rPr lang="en-US" smtClean="0"/>
              <a:t>10/27/26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85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491FA625-EDE8-4CCD-93F2-36B8EAED6AA1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389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824A7B9-17B9-4425-9158-739F678A55EB}" type="datetime1">
              <a:rPr lang="en-US" smtClean="0"/>
              <a:t>10/27/26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581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28E8FF4C-7F6A-4962-9270-F797B8959287}" type="datetime1">
              <a:rPr lang="en-US" smtClean="0"/>
              <a:t>10/27/26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802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064F86E1-145A-4683-AD05-97E7E41B4995}" type="datetime1">
              <a:rPr lang="en-US" smtClean="0"/>
              <a:t>10/27/26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688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96B14CE5-CB23-4F24-AF40-FFA10F25B799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134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939A3FF-4925-4C53-B6D9-F2B1807D4179}" type="datetime1">
              <a:rPr lang="en-US" smtClean="0"/>
              <a:t>10/27/26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2840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220747AD-BB60-464B-B16B-6CC7DCEAA31E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424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40F08F-40FA-4D3B-96CF-F8FAF483E9A7}" type="datetime1">
              <a:rPr lang="en-US" smtClean="0"/>
              <a:t>10/27/26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0730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EB5EDF0F-3515-4895-B663-882304741893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9638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B29ED0-7871-4976-8402-1756C1FAC1EA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948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453B8C54-B76A-4DD8-BD0B-11200408342B}" type="datetime1">
              <a:rPr lang="en-US" smtClean="0"/>
              <a:t>10/27/26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823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448BDD-274C-4BED-8350-833672089118}" type="datetime1">
              <a:rPr lang="en-US" smtClean="0"/>
              <a:t>10/27/26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412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527F-9C49-4481-A18C-80BA2EA99E79}" type="datetime1">
              <a:rPr lang="en-US" smtClean="0"/>
              <a:t>10/27/26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8740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039EB-95FD-42A0-BF06-87A9D15142C9}" type="datetime1">
              <a:rPr lang="en-US" smtClean="0"/>
              <a:t>10/27/26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6434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701D-AA71-4F6F-B74A-236E07E9ABE4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9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D589-8B08-4190-9F3B-BA01ED2999CB}" type="datetime1">
              <a:rPr lang="en-US" smtClean="0"/>
              <a:t>10/27/26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909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A08923-D58E-4822-B554-6A1173FCE25D}" type="datetime1">
              <a:rPr lang="en-US" smtClean="0"/>
              <a:t>10/27/26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475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F50BF9E0-60DA-4D6D-8F14-825F152220D6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496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18A4B20A-718A-4149-B5D2-676E857EB828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2805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8" r:id="rId4"/>
    <p:sldLayoutId id="2147483670" r:id="rId5"/>
    <p:sldLayoutId id="2147483672" r:id="rId6"/>
    <p:sldLayoutId id="2147483673" r:id="rId7"/>
    <p:sldLayoutId id="2147483676" r:id="rId8"/>
    <p:sldLayoutId id="2147483678" r:id="rId9"/>
    <p:sldLayoutId id="2147483682" r:id="rId10"/>
    <p:sldLayoutId id="2147483684" r:id="rId11"/>
    <p:sldLayoutId id="2147483685" r:id="rId12"/>
    <p:sldLayoutId id="2147483687" r:id="rId13"/>
    <p:sldLayoutId id="2147483689" r:id="rId14"/>
    <p:sldLayoutId id="2147483690" r:id="rId15"/>
    <p:sldLayoutId id="2147483693" r:id="rId16"/>
    <p:sldLayoutId id="2147483697" r:id="rId17"/>
    <p:sldLayoutId id="2147483699" r:id="rId18"/>
    <p:sldLayoutId id="2147483702" r:id="rId19"/>
    <p:sldLayoutId id="2147483706" r:id="rId20"/>
    <p:sldLayoutId id="2147483710" r:id="rId21"/>
    <p:sldLayoutId id="2147483714" r:id="rId22"/>
    <p:sldLayoutId id="2147483715" r:id="rId23"/>
    <p:sldLayoutId id="2147483716" r:id="rId24"/>
    <p:sldLayoutId id="2147483717" r:id="rId25"/>
    <p:sldLayoutId id="2147483720" r:id="rId26"/>
    <p:sldLayoutId id="2147483721" r:id="rId27"/>
  </p:sldLayoutIdLst>
  <p:hf hdr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5A0A81-D44A-B201-2B56-D09646A80C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OOo</a:t>
            </a:r>
            <a:r>
              <a:rPr lang="en-US" dirty="0"/>
              <a:t> ”</a:t>
            </a:r>
            <a:r>
              <a:rPr lang="ru-RU" dirty="0"/>
              <a:t>67</a:t>
            </a:r>
            <a:r>
              <a:rPr lang="en-US" dirty="0"/>
              <a:t>Mogged”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F36E5C-4181-5A2F-5FC7-40DE420230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Разработка правовой структуры стартапа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C26734-FEE8-C4DC-920F-6876973D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875EB93-8E12-423F-4E9B-3F88DEC5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8170F-0370-4A38-8BF3-83D69476AE62}" type="datetime1">
              <a:rPr lang="en-US" smtClean="0"/>
              <a:t>10/27/26</a:t>
            </a:fld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58BF01-FAC7-3A29-FC58-F5463D1A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1</a:t>
            </a:fld>
            <a:endParaRPr lang="en-US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0588B10-8299-7D8D-3314-785FA48D4E5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80" r="11480"/>
          <a:stretch>
            <a:fillRect/>
          </a:stretch>
        </p:blipFill>
        <p:spPr>
          <a:solidFill>
            <a:schemeClr val="accent3">
              <a:lumMod val="60000"/>
              <a:lumOff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08160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9D8B3F-944B-C300-058F-68A88D4AE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Правовая структура стартапа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E490A6D-807B-E0F7-9115-E40CC133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3954DE9-2F82-8112-59BE-7F3A07C2C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Наш стартап будет в форме ООО. Мы выбрали именно этот формат по нескольким причинам:</a:t>
            </a:r>
          </a:p>
          <a:p>
            <a:r>
              <a:rPr lang="ru-RU" dirty="0"/>
              <a:t>Удобная модель для инвестирования. Так как мы разрабатываем стартап, нам нужно стороннее финансирование, ООО для этого подходит больше чем ИП.</a:t>
            </a:r>
          </a:p>
          <a:p>
            <a:r>
              <a:rPr lang="ru-RU" dirty="0"/>
              <a:t>Понятнее и прозрачнее система распределения долей внутри стартапа. Так как мы работаем в команде, нам нужно честное распределение обязанностей и долей внутри.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388CA6-918C-3241-615E-8B8D9C1BD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22FE-7CAA-4561-B3B2-F8D8C37BE3D2}" type="datetime1">
              <a:rPr lang="en-US" smtClean="0"/>
              <a:t>10/27/26</a:t>
            </a:fld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095DE7-CFEE-2F32-9B4B-3DF242E70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2</a:t>
            </a:fld>
            <a:endParaRPr lang="en-US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B586641D-E80E-7A5F-F55C-AE5F5D38FC4F}"/>
              </a:ext>
            </a:extLst>
          </p:cNvPr>
          <p:cNvSpPr/>
          <p:nvPr/>
        </p:nvSpPr>
        <p:spPr>
          <a:xfrm>
            <a:off x="-340908" y="5579754"/>
            <a:ext cx="2140527" cy="2140527"/>
          </a:xfrm>
          <a:prstGeom prst="ellipse">
            <a:avLst/>
          </a:prstGeom>
          <a:solidFill>
            <a:srgbClr val="FFD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CEDCDAC7-1DC4-8F28-1DCA-D10239940A51}"/>
              </a:ext>
            </a:extLst>
          </p:cNvPr>
          <p:cNvSpPr/>
          <p:nvPr/>
        </p:nvSpPr>
        <p:spPr>
          <a:xfrm>
            <a:off x="10876021" y="4228591"/>
            <a:ext cx="3252355" cy="3252355"/>
          </a:xfrm>
          <a:prstGeom prst="ellipse">
            <a:avLst/>
          </a:prstGeom>
          <a:solidFill>
            <a:srgbClr val="FF76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6E75014F-01A8-2FC8-552A-0F99D8F15B12}"/>
              </a:ext>
            </a:extLst>
          </p:cNvPr>
          <p:cNvSpPr/>
          <p:nvPr/>
        </p:nvSpPr>
        <p:spPr>
          <a:xfrm>
            <a:off x="1413182" y="6221880"/>
            <a:ext cx="1652154" cy="1652154"/>
          </a:xfrm>
          <a:prstGeom prst="ellipse">
            <a:avLst/>
          </a:prstGeom>
          <a:solidFill>
            <a:srgbClr val="4B24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699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7CB0A-73B3-5C3F-6656-893BBAC58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Распределение долей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0BB80D-466C-ED41-3ABC-C306E5231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грамотного и честного распределения долей мы будем использовать корпоративный договор. В таком </a:t>
            </a:r>
            <a:r>
              <a:rPr lang="ru-RU" dirty="0" err="1"/>
              <a:t>случии</a:t>
            </a:r>
            <a:r>
              <a:rPr lang="ru-RU" dirty="0"/>
              <a:t> каждый участник стартапа будет юридически защищен.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5BC7AC-63CD-18A1-76E9-428D8157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8EF8838F-C12E-AA4B-EAB9-53A6DC2A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C47DC-C479-4517-B1B0-94DB01BA76E7}" type="datetime1">
              <a:rPr lang="en-US" smtClean="0"/>
              <a:t>10/27/26</a:t>
            </a:fld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581D93-165C-F176-7B03-5C77E27F4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3</a:t>
            </a:fld>
            <a:endParaRPr lang="en-US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6A65F8F5-E611-81CA-D0D1-4E5BFA58C981}"/>
              </a:ext>
            </a:extLst>
          </p:cNvPr>
          <p:cNvSpPr/>
          <p:nvPr/>
        </p:nvSpPr>
        <p:spPr>
          <a:xfrm>
            <a:off x="-1269495" y="-1293669"/>
            <a:ext cx="3252355" cy="3252355"/>
          </a:xfrm>
          <a:prstGeom prst="ellipse">
            <a:avLst/>
          </a:prstGeom>
          <a:solidFill>
            <a:srgbClr val="FF76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EAF66F5F-BB76-9148-24FE-AC8BB09D2CAB}"/>
              </a:ext>
            </a:extLst>
          </p:cNvPr>
          <p:cNvSpPr/>
          <p:nvPr/>
        </p:nvSpPr>
        <p:spPr>
          <a:xfrm>
            <a:off x="1101974" y="-1070265"/>
            <a:ext cx="2140527" cy="2140527"/>
          </a:xfrm>
          <a:prstGeom prst="ellipse">
            <a:avLst/>
          </a:prstGeom>
          <a:solidFill>
            <a:srgbClr val="FFD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65FFB39-78A0-437B-30A5-1DBA336BC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74" y="2295142"/>
            <a:ext cx="2645157" cy="2645157"/>
          </a:xfrm>
          <a:prstGeom prst="rect">
            <a:avLst/>
          </a:prstGeom>
        </p:spPr>
      </p:pic>
      <p:sp>
        <p:nvSpPr>
          <p:cNvPr id="14" name="Овал 13">
            <a:extLst>
              <a:ext uri="{FF2B5EF4-FFF2-40B4-BE49-F238E27FC236}">
                <a16:creationId xmlns:a16="http://schemas.microsoft.com/office/drawing/2014/main" id="{F0FD1B42-157B-FADF-DCCC-F6B15116D6AF}"/>
              </a:ext>
            </a:extLst>
          </p:cNvPr>
          <p:cNvSpPr/>
          <p:nvPr/>
        </p:nvSpPr>
        <p:spPr>
          <a:xfrm>
            <a:off x="-826077" y="5723128"/>
            <a:ext cx="1652154" cy="1652154"/>
          </a:xfrm>
          <a:prstGeom prst="ellipse">
            <a:avLst/>
          </a:prstGeom>
          <a:solidFill>
            <a:srgbClr val="4B24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07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53301F-E6F9-A537-9FC6-E94ABC50F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Интеллектуальная собственность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A8CCB99-29D1-3C87-D752-329AFC487DF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AE1BF4-E841-3C1B-4DE8-C08E76535E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8E8FF4C-7F6A-4962-9270-F797B8959287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056C6E5-FB93-AAF5-730F-5E5E570C19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4</a:t>
            </a:fld>
            <a:endParaRPr lang="en-US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ED76A4D-E51C-4D82-39ED-7C5531F61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Так как наш стартап относиться к технической сфере, то мы можем запатентовать его. Для этого нам нужно собрать ряд документов, минимальный пакет предполагает наличие этих документов: заявление, описание объекта, визуальные материалы, документ об оплате государственной пошлины.</a:t>
            </a:r>
          </a:p>
          <a:p>
            <a:r>
              <a:rPr lang="ru-RU" dirty="0"/>
              <a:t>После сбора всех документов необходимо отправить заявку в Роспатент.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F694561-7AF4-5BEF-0E53-9469FE57476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70" r="40742"/>
          <a:stretch/>
        </p:blipFill>
        <p:spPr>
          <a:xfrm>
            <a:off x="7774785" y="0"/>
            <a:ext cx="4417215" cy="685800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B36B5F-B6DB-9574-B312-DADFDC596AEC}"/>
              </a:ext>
            </a:extLst>
          </p:cNvPr>
          <p:cNvSpPr txBox="1"/>
          <p:nvPr/>
        </p:nvSpPr>
        <p:spPr>
          <a:xfrm>
            <a:off x="9929166" y="1561838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Заявление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77DBB0-CF3E-0FDA-E478-93C5B05B8B19}"/>
              </a:ext>
            </a:extLst>
          </p:cNvPr>
          <p:cNvSpPr txBox="1"/>
          <p:nvPr/>
        </p:nvSpPr>
        <p:spPr>
          <a:xfrm>
            <a:off x="9545246" y="2098963"/>
            <a:ext cx="197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Описание объекта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334C8B-C643-8125-B3DE-A589380E985B}"/>
              </a:ext>
            </a:extLst>
          </p:cNvPr>
          <p:cNvSpPr txBox="1"/>
          <p:nvPr/>
        </p:nvSpPr>
        <p:spPr>
          <a:xfrm>
            <a:off x="9294375" y="2636088"/>
            <a:ext cx="2475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Визуальные материалы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A69182-E59C-C6EF-13B6-9B3F1CCC408F}"/>
              </a:ext>
            </a:extLst>
          </p:cNvPr>
          <p:cNvSpPr txBox="1"/>
          <p:nvPr/>
        </p:nvSpPr>
        <p:spPr>
          <a:xfrm>
            <a:off x="9464293" y="3173213"/>
            <a:ext cx="213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Оплата госпошлины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4637B45-41B0-BB69-1150-C8BA9EEC733A}"/>
              </a:ext>
            </a:extLst>
          </p:cNvPr>
          <p:cNvSpPr/>
          <p:nvPr/>
        </p:nvSpPr>
        <p:spPr>
          <a:xfrm>
            <a:off x="-953337" y="5862918"/>
            <a:ext cx="2542220" cy="2538783"/>
          </a:xfrm>
          <a:prstGeom prst="ellipse">
            <a:avLst/>
          </a:prstGeom>
          <a:solidFill>
            <a:srgbClr val="FF76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26525185-32B1-2370-94B3-CC7FAD4B36CE}"/>
              </a:ext>
            </a:extLst>
          </p:cNvPr>
          <p:cNvSpPr/>
          <p:nvPr/>
        </p:nvSpPr>
        <p:spPr>
          <a:xfrm>
            <a:off x="1078502" y="5762334"/>
            <a:ext cx="1652154" cy="1652154"/>
          </a:xfrm>
          <a:prstGeom prst="ellipse">
            <a:avLst/>
          </a:prstGeom>
          <a:solidFill>
            <a:srgbClr val="4B24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32A7F57D-A96B-2C1A-33EF-0A6236CD1B90}"/>
              </a:ext>
            </a:extLst>
          </p:cNvPr>
          <p:cNvSpPr/>
          <p:nvPr/>
        </p:nvSpPr>
        <p:spPr>
          <a:xfrm>
            <a:off x="10918811" y="-1147248"/>
            <a:ext cx="2140527" cy="2140527"/>
          </a:xfrm>
          <a:prstGeom prst="ellipse">
            <a:avLst/>
          </a:prstGeom>
          <a:solidFill>
            <a:srgbClr val="FFD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293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173C2B13-6B9A-52FA-A3BF-E7E167EA0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5400" dirty="0">
                <a:solidFill>
                  <a:schemeClr val="accent1"/>
                </a:solidFill>
              </a:rPr>
              <a:t>Защита интеллектуальной собственности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F0DFBCC-9947-9771-4428-D312F0709F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3D03FF-2A1E-11A3-F7BE-394B703A25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8E8FF4C-7F6A-4962-9270-F797B8959287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41F8C1-1D9B-608F-CF83-6E2EA6C9CDF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5</a:t>
            </a:fld>
            <a:endParaRPr lang="en-US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41F1CB2-D8F1-9343-7C61-4F459EC678E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4" r="3934"/>
          <a:stretch>
            <a:fillRect/>
          </a:stretch>
        </p:blipFill>
        <p:spPr/>
      </p:pic>
      <p:sp>
        <p:nvSpPr>
          <p:cNvPr id="9" name="Объект 8">
            <a:extLst>
              <a:ext uri="{FF2B5EF4-FFF2-40B4-BE49-F238E27FC236}">
                <a16:creationId xmlns:a16="http://schemas.microsoft.com/office/drawing/2014/main" id="{D9066EFF-2490-D9DC-AE02-CD866FDF2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подачи заявки в Роспатент можно воспользоваться помощью сторонних организаций. Так мы сэкономим время для более быстрого выхода на рынок и получим квалифицированную помощь по оформлению документов.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B16945D2-05AE-6B2C-4684-DDABD427DF63}"/>
              </a:ext>
            </a:extLst>
          </p:cNvPr>
          <p:cNvSpPr/>
          <p:nvPr/>
        </p:nvSpPr>
        <p:spPr>
          <a:xfrm>
            <a:off x="10765053" y="5623594"/>
            <a:ext cx="2140527" cy="2140527"/>
          </a:xfrm>
          <a:prstGeom prst="ellipse">
            <a:avLst/>
          </a:prstGeom>
          <a:solidFill>
            <a:srgbClr val="FFD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D91AA116-57EC-785D-AA8B-2AFDB7B46696}"/>
              </a:ext>
            </a:extLst>
          </p:cNvPr>
          <p:cNvSpPr/>
          <p:nvPr/>
        </p:nvSpPr>
        <p:spPr>
          <a:xfrm>
            <a:off x="8640726" y="6096000"/>
            <a:ext cx="3252355" cy="3252355"/>
          </a:xfrm>
          <a:prstGeom prst="ellipse">
            <a:avLst/>
          </a:prstGeom>
          <a:solidFill>
            <a:srgbClr val="FF76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ED6C8CAA-56AE-68E2-B2B9-8F018B566712}"/>
              </a:ext>
            </a:extLst>
          </p:cNvPr>
          <p:cNvSpPr/>
          <p:nvPr/>
        </p:nvSpPr>
        <p:spPr>
          <a:xfrm>
            <a:off x="10867451" y="6298623"/>
            <a:ext cx="1652154" cy="1652154"/>
          </a:xfrm>
          <a:prstGeom prst="ellipse">
            <a:avLst/>
          </a:prstGeom>
          <a:solidFill>
            <a:srgbClr val="4B24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147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725D410C-277C-0BCD-19F4-9D5E54FF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Партнерское соглашение между сооснователями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B0F9C51-8457-9C88-54A2-806926ADD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A223B7-B11C-F78D-3679-338493BAD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F08F-40FA-4D3B-96CF-F8FAF483E9A7}" type="datetime1">
              <a:rPr lang="en-US" smtClean="0"/>
              <a:t>10/27/26</a:t>
            </a:fld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C003C1-E3EC-FD63-601B-824331CF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6</a:t>
            </a:fld>
            <a:endParaRPr lang="en-US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88D20E65-821A-8D2B-DCA8-E47D14A327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В первую очередь мы решили сфокусироваться на партнерском соглашении между сооснователями, так как в нем прописаны распределение вкладов, прибыли и границы ответственности. Так же партнерское соглашение содержит такие пункты как: равный доступ к информации, выход из партнерства.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896E31AC-EE48-F69C-7771-801D534E7A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Ключевые положения соглашения:</a:t>
            </a:r>
          </a:p>
          <a:p>
            <a:r>
              <a:rPr lang="ru-RU" dirty="0"/>
              <a:t>Общее имущество товарищей</a:t>
            </a:r>
          </a:p>
          <a:p>
            <a:r>
              <a:rPr lang="ru-RU" dirty="0"/>
              <a:t>Ведение общих дел</a:t>
            </a:r>
          </a:p>
          <a:p>
            <a:r>
              <a:rPr lang="ru-RU" dirty="0"/>
              <a:t>Право на информацию</a:t>
            </a:r>
          </a:p>
          <a:p>
            <a:r>
              <a:rPr lang="ru-RU" dirty="0"/>
              <a:t>Расходы и убытки</a:t>
            </a:r>
          </a:p>
          <a:p>
            <a:r>
              <a:rPr lang="ru-RU" dirty="0"/>
              <a:t>Прекращение договора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15B8AED4-62DC-F867-18F5-7D5337C2FE60}"/>
              </a:ext>
            </a:extLst>
          </p:cNvPr>
          <p:cNvSpPr/>
          <p:nvPr/>
        </p:nvSpPr>
        <p:spPr>
          <a:xfrm>
            <a:off x="9935915" y="5231822"/>
            <a:ext cx="3252355" cy="3252355"/>
          </a:xfrm>
          <a:prstGeom prst="ellipse">
            <a:avLst/>
          </a:prstGeom>
          <a:solidFill>
            <a:srgbClr val="FF76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DE1BCA05-0457-F44B-6630-0A2F48A2235D}"/>
              </a:ext>
            </a:extLst>
          </p:cNvPr>
          <p:cNvSpPr/>
          <p:nvPr/>
        </p:nvSpPr>
        <p:spPr>
          <a:xfrm>
            <a:off x="-752491" y="5579088"/>
            <a:ext cx="2140527" cy="2140527"/>
          </a:xfrm>
          <a:prstGeom prst="ellipse">
            <a:avLst/>
          </a:prstGeom>
          <a:solidFill>
            <a:srgbClr val="FFD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43CEE489-084D-EFAC-7009-E2130DD89A0B}"/>
              </a:ext>
            </a:extLst>
          </p:cNvPr>
          <p:cNvSpPr/>
          <p:nvPr/>
        </p:nvSpPr>
        <p:spPr>
          <a:xfrm>
            <a:off x="8899607" y="6226985"/>
            <a:ext cx="1652154" cy="1652154"/>
          </a:xfrm>
          <a:prstGeom prst="ellipse">
            <a:avLst/>
          </a:prstGeom>
          <a:solidFill>
            <a:srgbClr val="4B24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6922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6204</TotalTime>
  <Words>279</Words>
  <Application>Microsoft Macintosh PowerPoint</Application>
  <PresentationFormat>Широкоэкранный</PresentationFormat>
  <Paragraphs>40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Arial</vt:lpstr>
      <vt:lpstr>Haettenschweiler</vt:lpstr>
      <vt:lpstr>Trade Gothic Next Light</vt:lpstr>
      <vt:lpstr>Editorial</vt:lpstr>
      <vt:lpstr>OOo ”67Mogged”</vt:lpstr>
      <vt:lpstr>Правовая структура стартапа</vt:lpstr>
      <vt:lpstr>Распределение долей</vt:lpstr>
      <vt:lpstr>Интеллектуальная собственность</vt:lpstr>
      <vt:lpstr>Защита интеллектуальной собственности</vt:lpstr>
      <vt:lpstr>Партнерское соглашение между сооснователями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OOo ”67Mogged”</dc:title>
  <dc:creator>Apple</dc:creator>
  <cp:lastModifiedBy>Apple</cp:lastModifiedBy>
  <cp:revision>2</cp:revision>
  <dcterms:created xsi:type="dcterms:W3CDTF">2026-10-20T07:41:19Z</dcterms:created>
  <dcterms:modified xsi:type="dcterms:W3CDTF">2026-10-27T06:52:27Z</dcterms:modified>
</cp:coreProperties>
</file>